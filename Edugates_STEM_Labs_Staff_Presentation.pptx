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4114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6B6D4"/>
                </a:solidFill>
              </a:defRPr>
            </a:pPr>
            <a:r>
              <a:t>STAFF DEMONSTRATION &amp; TEACHER'S IMPLEMENTATION GUIDE</a:t>
            </a:r>
          </a:p>
          <a:p>
            <a:pPr>
              <a:spcAft>
                <a:spcPts val="1000"/>
              </a:spcAft>
              <a:defRPr sz="4000" b="1">
                <a:solidFill>
                  <a:srgbClr val="F8FAFC"/>
                </a:solidFill>
              </a:defRPr>
            </a:pPr>
            <a:r>
              <a:t>Edugates-ClipSAT Science Labs</a:t>
            </a:r>
          </a:p>
          <a:p>
            <a:pPr>
              <a:spcAft>
                <a:spcPts val="2800"/>
              </a:spcAft>
              <a:defRPr sz="1800">
                <a:solidFill>
                  <a:srgbClr val="94A3B8"/>
                </a:solidFill>
              </a:defRPr>
            </a:pPr>
            <a:r>
              <a:t>Next-Generation Interactive STEM Curriculum, 45 Virtual Laboratories &amp; Assessment Engine</a:t>
            </a:r>
          </a:p>
          <a:p>
            <a:pPr>
              <a:spcAft>
                <a:spcPts val="2800"/>
              </a:spcAft>
              <a:defRPr sz="1300">
                <a:solidFill>
                  <a:srgbClr val="CBD5E1"/>
                </a:solidFill>
              </a:defRPr>
            </a:pPr>
            <a:r>
              <a:t>• 74 Curriculum Modules across Chemistry, Biology &amp; Physics</a:t>
            </a:r>
            <a:br/>
            <a:r>
              <a:t>• 45 Interactive Mathematics-Driven Virtual Science Benches</a:t>
            </a:r>
            <a:br/>
            <a:r>
              <a:t>• Automated 2-Page A4 Teacher Lesson Plans &amp; Instant Test Generator</a:t>
            </a:r>
            <a:br/>
            <a:r>
              <a:t>• 100% Offline Progressive Web App (PWA) • MAXHUB Smartboard 60 FPS Turbo Mode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Presenter: Mohammed Amy | High School STEM Department | Academic Year 2026-2027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097280"/>
            <a:ext cx="1645920" cy="23217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EDUGATES-CLIPSAT SCIENCE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Transforming STEM Education: The Laboratory Paradigm Shift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87171"/>
                </a:solidFill>
              </a:defRPr>
            </a:pPr>
            <a:r>
              <a:t>⚠️ Challenges in Traditional Science Labs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Hazard &amp; Safety Constraints: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Toxic reagents, high voltage, and biological pathogens restrict hands-on student exploration.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Consumables &amp; Budget Fatigue: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Pipettes, indicators, glassware breakages, and single-use kits incur recurring institutional costs.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Classroom Pacing Bottlenecks: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45-minute periods are consumed by chemical preparation, clean-up, and titration calibration.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One-Trial Limitation: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If an experiment fails, students cannot reset and re-test without waiting for the next lab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10B981"/>
                </a:solidFill>
              </a:defRPr>
            </a:pPr>
            <a:r>
              <a:t>✨ The Edugates-ClipSAT Solution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Zero Chemical Hazard, 100% Inquiry: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Students fearlessly manipulate strong acids, electron diffraction, and microbial cultures.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Unlimited Instant Trial Repetition: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1-click 'Reset' or 'New Trial' enables rigorous hypothesis testing and statistical analysis.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Real Physics &amp; Stoichiometry Engine: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Continuous calculus numerical models (dpH/dV peaks, Young's slits, Snell's law, Beer-Lambert).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Complete Teacher Integration: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Automated A4 lesson plans, test generation, and MAXHUB touch compliance directly built 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EDUGATES-CLIPSAT SCIENCE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Platform Architecture: The Four Core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/>
            </a:pPr>
            <a:r>
              <a:t>⚛️</a:t>
            </a:r>
          </a:p>
          <a:p>
            <a:pPr>
              <a:spcAft>
                <a:spcPts val="400"/>
              </a:spcAft>
              <a:defRPr sz="2000" b="1">
                <a:solidFill>
                  <a:srgbClr val="06B6D4"/>
                </a:solidFill>
              </a:defRPr>
            </a:pPr>
            <a:r>
              <a:t>74 Modules</a:t>
            </a:r>
          </a:p>
          <a:p>
            <a:pPr>
              <a:spcAft>
                <a:spcPts val="1400"/>
              </a:spcAft>
              <a:defRPr sz="1400" b="1">
                <a:solidFill>
                  <a:srgbClr val="F8FAFC"/>
                </a:solidFill>
              </a:defRPr>
            </a:pPr>
            <a:r>
              <a:t>Curriculum Scope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23 Chemistry</a:t>
            </a:r>
            <a:br/>
            <a:r>
              <a:t>27 Biology</a:t>
            </a:r>
            <a:br/>
            <a:r>
              <a:t>24 Physics</a:t>
            </a:r>
            <a:br/>
            <a:r>
              <a:t>Aligned with McGraw-Hill Inspire Teacher Editions.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5603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373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/>
            </a:pPr>
            <a:r>
              <a:t>🧪</a:t>
            </a:r>
          </a:p>
          <a:p>
            <a:pPr>
              <a:spcAft>
                <a:spcPts val="400"/>
              </a:spcAft>
              <a:defRPr sz="2000" b="1">
                <a:solidFill>
                  <a:srgbClr val="0284C7"/>
                </a:solidFill>
              </a:defRPr>
            </a:pPr>
            <a:r>
              <a:t>45 Benches</a:t>
            </a:r>
          </a:p>
          <a:p>
            <a:pPr>
              <a:spcAft>
                <a:spcPts val="1400"/>
              </a:spcAft>
              <a:defRPr sz="1400" b="1">
                <a:solidFill>
                  <a:srgbClr val="F8FAFC"/>
                </a:solidFill>
              </a:defRPr>
            </a:pPr>
            <a:r>
              <a:t>Virtual Laboratories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Interactive tactile apparatus</a:t>
            </a:r>
            <a:br/>
            <a:r>
              <a:t>Real-time canvas graphing</a:t>
            </a:r>
            <a:br/>
            <a:r>
              <a:t>Continuous numerical simulation</a:t>
            </a:r>
            <a:br/>
            <a:r>
              <a:t>Trial Store &amp; Data Export.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25603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/>
            </a:pPr>
            <a:r>
              <a:t>📝</a:t>
            </a:r>
          </a:p>
          <a:p>
            <a:pPr>
              <a:spcAft>
                <a:spcPts val="400"/>
              </a:spcAft>
              <a:defRPr sz="2000" b="1">
                <a:solidFill>
                  <a:srgbClr val="F59E0B"/>
                </a:solidFill>
              </a:defRPr>
            </a:pPr>
            <a:r>
              <a:t>2,500+ Items</a:t>
            </a:r>
          </a:p>
          <a:p>
            <a:pPr>
              <a:spcAft>
                <a:spcPts val="1400"/>
              </a:spcAft>
              <a:defRPr sz="1400" b="1">
                <a:solidFill>
                  <a:srgbClr val="F8FAFC"/>
                </a:solidFill>
              </a:defRPr>
            </a:pPr>
            <a:r>
              <a:t>Assessment Suite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Custom test generation</a:t>
            </a:r>
            <a:br/>
            <a:r>
              <a:t>Instant printable Bubble Sheets</a:t>
            </a:r>
            <a:br/>
            <a:r>
              <a:t>DOCX &amp; PDF export</a:t>
            </a:r>
            <a:br/>
            <a:r>
              <a:t>Interactive Flashcard decks.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554480"/>
            <a:ext cx="25603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7373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/>
            </a:pPr>
            <a:r>
              <a:t>⚡</a:t>
            </a:r>
          </a:p>
          <a:p>
            <a:pPr>
              <a:spcAft>
                <a:spcPts val="400"/>
              </a:spcAft>
              <a:defRPr sz="2000" b="1">
                <a:solidFill>
                  <a:srgbClr val="10B981"/>
                </a:solidFill>
              </a:defRPr>
            </a:pPr>
            <a:r>
              <a:t>MAXHUB Ready</a:t>
            </a:r>
          </a:p>
          <a:p>
            <a:pPr>
              <a:spcAft>
                <a:spcPts val="1400"/>
              </a:spcAft>
              <a:defRPr sz="1400" b="1">
                <a:solidFill>
                  <a:srgbClr val="F8FAFC"/>
                </a:solidFill>
              </a:defRPr>
            </a:pPr>
            <a:r>
              <a:t>Hardware &amp; Display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60 FPS Turbo Profile</a:t>
            </a:r>
            <a:br/>
            <a:r>
              <a:t>Zero-blur canvas rendering</a:t>
            </a:r>
            <a:br/>
            <a:r>
              <a:t>Day &amp; Night contrast modes</a:t>
            </a:r>
            <a:br/>
            <a:r>
              <a:t>100% Offline PWA operation.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EDUGATES-CLIPSAT SCIENCE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Three Comprehensive Curriculum Disciplines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6B6D4"/>
                </a:solidFill>
              </a:defRPr>
            </a:pPr>
            <a:r>
              <a:t>Inspire Chemistry Track</a:t>
            </a:r>
          </a:p>
          <a:p>
            <a:pPr>
              <a:spcAft>
                <a:spcPts val="1400"/>
              </a:spcAft>
              <a:defRPr sz="1100" b="1">
                <a:solidFill>
                  <a:srgbClr val="64748B"/>
                </a:solidFill>
              </a:defRPr>
            </a:pPr>
            <a:r>
              <a:t>23 Modules • 95 Lessons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Matter, Energy &amp; Atomic Structure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Periodic Trends &amp; Electron Configurations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Ionic, Covalent &amp; Metallic Chemical Bonding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Stoichiometry, Empirical Formulas &amp; Hydrates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Thermochemistry &amp; Calorimetric Enthalpy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Chemical Equilibrium &amp; Le Chatelier's Principle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Acids, Bases, Titration &amp; pH Buffers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Hydrocarbons, Functional Groups &amp; Organic Reactions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Electrochemistry &amp; Galvanic Voltaic Cells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Nuclear Chemistry, Alpha/Beta Decay &amp; Fission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4747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0B981"/>
                </a:solidFill>
              </a:defRPr>
            </a:pPr>
            <a:r>
              <a:t>Inspire Biology Track</a:t>
            </a:r>
          </a:p>
          <a:p>
            <a:pPr>
              <a:spcAft>
                <a:spcPts val="1400"/>
              </a:spcAft>
              <a:defRPr sz="1100" b="1">
                <a:solidFill>
                  <a:srgbClr val="64748B"/>
                </a:solidFill>
              </a:defRPr>
            </a:pPr>
            <a:r>
              <a:t>27 Modules • 108 Lessons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Cellular Architecture, Membranes &amp; Organelles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Cellular Respiration (Glycolysis to 32 ATP)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Photosynthesis (Light Reactions &amp; Calvin Cycle)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Molecular Genetics, DNA Replication &amp; Transcription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Mendelian &amp; Non-Mendelian Genetics (Punnett)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Evolution, Natural Selection &amp; Population Genetics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Microbiology, Gram Staining &amp; Antibiotic Resistance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Plant Biology, Transpiration &amp; Vascular Transport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Ecology, Biogeochemical Cycles &amp; Food Webs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Human Anatomy Atlas (3D Organ Systems)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554480"/>
            <a:ext cx="34747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7373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6366F1"/>
                </a:solidFill>
              </a:defRPr>
            </a:pPr>
            <a:r>
              <a:t>Inspire Physics Track</a:t>
            </a:r>
          </a:p>
          <a:p>
            <a:pPr>
              <a:spcAft>
                <a:spcPts val="1400"/>
              </a:spcAft>
              <a:defRPr sz="1100" b="1">
                <a:solidFill>
                  <a:srgbClr val="64748B"/>
                </a:solidFill>
              </a:defRPr>
            </a:pPr>
            <a:r>
              <a:t>24 Modules • 96 Lessons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1D &amp; 2D Kinematics, Projectiles &amp; Free Fall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Newton's Laws of Motion, Friction &amp; Tension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Work, Kinetic Energy, Potential Energy &amp; Power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Linear Momentum &amp; 2D Elastic/Inelastic Collisions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Universal Gravitation &amp; Keplerian Planetary Orbits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Fluid Dynamics (Archimedes, Bernoulli &amp; Venturi)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Wave Interference, Doppler &amp; Sound Resonance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Geometric Optics, Lenses, Mirrors &amp; Snell's Law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Electrostatics, Coulomb's Law &amp; Gauss Flux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Electric Circuits (Ohm, Kirchhoff &amp; RC Filters)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EDUGATES-CLIPSAT SCIENCE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45 Virtual Laboratories: Mathematical Physics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48640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284C7"/>
                </a:solidFill>
              </a:defRPr>
            </a:pPr>
            <a:r>
              <a:t>🔬 High-Fidelity Interactive Physics &amp; Chemistry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Continuous Differential Calculators: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Calculates instantaneous state transitions (stoichiometric titrations, wave PDEs, projectile drag with Reynolds numbers, damped harmonic oscillations).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Live Canvas Real-Time Plotting: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Plots pH curves, absorption spectra, wave interference fringes, and kinetic trajectory profiles at 60 FPS.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Tactile Hardware Emulation: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Rotary burette stopcocks, revolving microscope turret objectives, optical benches, and dual-slit barriers with tactile drag-and-drop feedback.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Synthesized Acoustics (Zero-Memory WebAudio):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Real-time droplet clicks, mechanical turret snaps, liquid laminar jets, and discharge sparks without memory leaks.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• LabTrialStore Persistence: 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Students record, compare, and export multiple trials into CSV/JSON or formatted printable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554480"/>
            <a:ext cx="493776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itration_ben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37360"/>
            <a:ext cx="4572000" cy="25518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5212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Flagship Lab Bench: Acid-Base Titration</a:t>
            </a:r>
            <a:br/>
            <a:r>
              <a:t>Interactive stopcock, continuous liquid jet, phenolphthalein/bromothymol indicator diffusion, live dpH/dV peak detection.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CHEMISTRY BENCH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Chemistry Virtual Labs: Precision Chemical Bench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itration_ben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3108960" cy="17352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93192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B6D4"/>
                </a:solidFill>
              </a:defRPr>
            </a:pPr>
            <a:r>
              <a:t>Acid-Base Titration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Volumetric burette, strong/weak acid-base combinations, dynamic titration curve, first-derivative dpH/dV equivalence point locator.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747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ame_test_ben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737360"/>
            <a:ext cx="3108960" cy="17352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26280" y="393192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B6D4"/>
                </a:solidFill>
              </a:defRPr>
            </a:pPr>
            <a:r>
              <a:t>Flame Spectrophotometry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Barium, Strontium, Copper, Sodium, Potassium emission spectra with diffraction line wavelengths in nanometers.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54480"/>
            <a:ext cx="34747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rbital_benc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737360"/>
            <a:ext cx="3108960" cy="17352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60" y="393192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B6D4"/>
                </a:solidFill>
              </a:defRPr>
            </a:pPr>
            <a:r>
              <a:t>Atomic Orbital Hybridization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3D interactive s, p, d orbitals and sp, sp2, sp3 hybrid geometry with nodal surfaces and electron probability clouds.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BIOLOGY BENCH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Biology Virtual Labs: Microscopic to Ecological Inquiry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icroscope_ben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3108960" cy="17352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93192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Research Optical Microscope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Revolving 4x, 10x, 40x, 100x turret, coarse/fine focus, NA 0.10 to 1.25 depth-of-field blur, Köhler &amp; Phase Contrast illumination.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747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ranspiration_ben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737360"/>
            <a:ext cx="3108960" cy="17352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26280" y="393192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Plant Transpiration Photometer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Capillary air bubble photometer measuring water uptake across Wind, Light Intensity, Humidity, and Stomatal closure conditions.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54480"/>
            <a:ext cx="34747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lectrophoresis_benc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737360"/>
            <a:ext cx="3108960" cy="17352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60" y="393192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Gel Electrophoresis &amp; DNA Atlas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Agarose gel ladder sizing, restriction digest fragments, fluorescent UV transillumination, and 3D double helix nucleotide geometry.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PHYSICS BENCH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Physics Virtual Labs: Wave Optics &amp; Classical Mechanics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aves_ben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3108960" cy="17352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93192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6366F1"/>
                </a:solidFill>
              </a:defRPr>
            </a:pPr>
            <a:r>
              <a:t>Wave Interference Ripple Tank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2D water wave simulator with PML damping boundaries, Doppler frequency shifts, Young's double-slit fringe spacing, and tactile droplet gen.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747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jectile_ben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737360"/>
            <a:ext cx="3108960" cy="17352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26280" y="393192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6366F1"/>
                </a:solidFill>
              </a:defRPr>
            </a:pPr>
            <a:r>
              <a:t>Ballistic Projectile Launcher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Multi-angle cannon with launch velocity, adjustable gravity (Earth, Moon, Mars), cross-sectional air drag, and live trajectory telemetry.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54480"/>
            <a:ext cx="34747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ptics_benc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737360"/>
            <a:ext cx="3108960" cy="17352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60" y="393192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6366F1"/>
                </a:solidFill>
              </a:defRPr>
            </a:pPr>
            <a:r>
              <a:t>Geometric Optics &amp; Ray Tracing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Thin lenses, spherical mirrors, refractive media, Snell's law total internal reflection, chromatic dispersion, and focal plane ray tracing.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ANATOMY &amp; PHYSIOLOGY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Flagship Feature: Interactive Human Anatomy Atlas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48640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🫀 Multi-Layered Physiological Organ Exploration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Layer Peeling Architecture: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Toggle between Skeletal, Muscular, Circulatory, Nervous, Visceral, and Integumentary layers seamlessly.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Male &amp; Female Anatomical Models: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Complete anterior and posterior views with full reproductive and pelvic system cross-sections.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Organ Deep Dives: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8K high-resolution coronal sections for Cranial Brain, Coronal Heart Chamber, Pulmonary Alveoli, and Hepatic Systems.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Tactile Smartboard Zoom &amp; Pinning: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Pinch-to-zoom on MAXHUB screens with anatomical label pins, clinical notes, and histological micrographs.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554480"/>
            <a:ext cx="493776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uman_anatomy_anterior_8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737360"/>
            <a:ext cx="4389120" cy="7863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TEACHER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Teacher Productivity: Automated 2-Page A4 Lesson Plans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6B6D4"/>
                </a:solidFill>
              </a:defRPr>
            </a:pPr>
            <a:r>
              <a:t>📄 Ready-to-Teach Curriculum Documents with 1-Click PDF Export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Instant Generation for All 74 Modules: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Clicking 'Teacher Lesson Plan' on any module generates an exhaustive, curriculum-aligned A4 plan formatted with zero manual prep.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Strict 2-Page A4 Page Budget: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Precision CSS `@page` print rules guarantee exactly 2 pages with zero ragged orphans, designed specifically for teacher binder archiving.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Structured Pedagogical Sections: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Standards Alignment (NGSS / SAT), Prior Knowledge, Core Concepts, Step-by-Step Pacing (Engage, Explore, Explain, Elaborate, Evaluate), Common Student Misconceptions, and Scaffolding.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Differentiation Strategies: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Includes built-in strategies for Advanced Students (AP/Olympiad extension) and Emerging Learners (tactile scaffolds and visual representations).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Dual Export Formats: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Print or save as vector PDF directly from the browser, or export to clean Word DOCX for school administrative review.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2,500+ Curated Question Bank: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Covering SAT Subject, AP Science, and NGSS standard benchmarks with zero duplicate guarantees across all modules.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Interactive In-Class Quizzes: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Immediate student feedback with KaTeX mathematical typesetting, animated worked solution breakdowns, and error explanations.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Custom Printable Exam Generator: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Select specific modules, choose question count (10, 25, 50), randomize order, and print clean formatted student test papers.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Instant Printable OMR Bubble Sheets: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Auto-generates standardized multiple-choice answer bubble sheets with corresponding Master Answer Keys and grading rubrics.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Student Telemetry &amp; Mastery Tracking: 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  Local storage telemetry records scores, completion percentages, and domain mastery without external cloud account logins.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ASSESSMENT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Assessment Engine: Test Generator &amp; Bubble Sheets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</a:defRPr>
            </a:pPr>
            <a:r>
              <a:t>📝 Comprehensive Assessment Workflow from Quiz to Exam Day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SMARTBOARD &amp; DISPLAY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Classroom Optimization: MAXHUB Smartboard &amp; Hardware 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57800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⚡ MAXHUB Turbo 60 FPS Profile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Deactivates expensive CSS backdrop-filter blur filters on low-spec integrated GPU chipsets.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Forces solid high-contrast opaque surfaces for rapid 60 FPS canvas redraws during live teaching.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Touch targets expanded to 52px+ for effortless fingertip and stylus interaction.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257800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3736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☀️ Day &amp; Night Contrast Modes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Day Mode (WCAG AAA): Specially tuned for brightly lit science laboratories and high-lumen classroom projectors.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Night Mode: Deep OLED dark slate aesthetic reducing eye strain in dimmed computer labs.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Instant hotkey toggle with sound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257800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19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⏱️ Classroom Timer &amp; Stopwatch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Draggable, floating countdown timer and stopwatch widget (hotkey Shift+T).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Paced to 30 FPS on smartboards to prevent CPU throttling while running physics simulations.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Audible synthesized chimes on countdown expiration.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77639"/>
            <a:ext cx="5257800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160519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🎯 Focus Presentation Mode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Hides navigation bars, browser chrome, and peripheral controls with Shift+F.</a:t>
            </a:r>
          </a:p>
          <a:p>
            <a:pPr>
              <a:spcAft>
                <a:spcPts val="200"/>
              </a:spcAft>
              <a:defRPr sz="1000">
                <a:solidFill>
                  <a:srgbClr val="94A3B8"/>
                </a:solidFill>
              </a:defRPr>
            </a:pPr>
            <a:r>
              <a:t>• Allows the virtual experiment to fill 100% of the interactive display screen during demonstration.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OFFLINE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Enterprise Reliability: 100% Offline Progressive Web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📶 Zero Internet Required During Classrooms &amp; Exams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Complete Pre-Caching Engine: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All core code, stylesheets, mathematical fonts (KaTeX), and 45 simulation engines are cached via Service Worker (amscilab-pwa-v71).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School Firewall &amp; Outage Immunity: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School network bandwidth drops, Wi-Fi dead zones, or proxy blockades never interrupt a lab demonstration or student exam.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Built-In Offline Diagnostics Suite: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Accessible via hotkey 'O' or the Smartboard Toolbar to audit and pre-cache 100% of curriculum modules with a single click.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• Privacy &amp; Student Data Safety: 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  Zero external trackers, zero student account logins required, zero telemetry sent to third-party ad networks. Fully FERPA / COPPA compliant by design.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PEDAGOGICAL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Instructional Best Practices: The 45-Minute Lab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6B6D4"/>
                </a:solidFill>
              </a:defRPr>
            </a:pPr>
            <a:r>
              <a:t>Step 1: Bellringer &amp; Hook</a:t>
            </a:r>
          </a:p>
          <a:p>
            <a:pPr>
              <a:spcAft>
                <a:spcPts val="1400"/>
              </a:spcAft>
              <a:defRPr sz="1100" b="1">
                <a:solidFill>
                  <a:srgbClr val="64748B"/>
                </a:solidFill>
              </a:defRPr>
            </a:pPr>
            <a:r>
              <a:t>0 - 7 Minutes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Launch Interactive Flashcards</a:t>
            </a:r>
            <a:br/>
            <a:r>
              <a:t>• Review 5 key STEM definitions</a:t>
            </a:r>
            <a:br/>
            <a:r>
              <a:t>• Reveal lab investigative prompt on MAXHUB screen.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5603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373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</a:defRPr>
            </a:pPr>
            <a:r>
              <a:t>Step 2: Teacher Modeling</a:t>
            </a:r>
          </a:p>
          <a:p>
            <a:pPr>
              <a:spcAft>
                <a:spcPts val="1400"/>
              </a:spcAft>
              <a:defRPr sz="1100" b="1">
                <a:solidFill>
                  <a:srgbClr val="64748B"/>
                </a:solidFill>
              </a:defRPr>
            </a:pPr>
            <a:r>
              <a:t>7 - 17 Minutes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Demonstrate apparatus setup</a:t>
            </a:r>
            <a:br/>
            <a:r>
              <a:t>• Shift+F for Focus Mode</a:t>
            </a:r>
            <a:br/>
            <a:r>
              <a:t>• Formulate hypothesis &amp; make first sample observation.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25603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</a:defRPr>
            </a:pPr>
            <a:r>
              <a:t>Step 3: Student Active Lab</a:t>
            </a:r>
          </a:p>
          <a:p>
            <a:pPr>
              <a:spcAft>
                <a:spcPts val="1400"/>
              </a:spcAft>
              <a:defRPr sz="1100" b="1">
                <a:solidFill>
                  <a:srgbClr val="64748B"/>
                </a:solidFill>
              </a:defRPr>
            </a:pPr>
            <a:r>
              <a:t>17 - 35 Minutes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1:1 iPad/Chromebook lab work</a:t>
            </a:r>
            <a:br/>
            <a:r>
              <a:t>• Manipulate variables &amp; record trials</a:t>
            </a:r>
            <a:br/>
            <a:r>
              <a:t>• Export data table and auto-generate lab chart.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554480"/>
            <a:ext cx="256032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73736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59E0B"/>
                </a:solidFill>
              </a:defRPr>
            </a:pPr>
            <a:r>
              <a:t>Step 4: Check for Understanding</a:t>
            </a:r>
          </a:p>
          <a:p>
            <a:pPr>
              <a:spcAft>
                <a:spcPts val="1400"/>
              </a:spcAft>
              <a:defRPr sz="1100" b="1">
                <a:solidFill>
                  <a:srgbClr val="64748B"/>
                </a:solidFill>
              </a:defRPr>
            </a:pPr>
            <a:r>
              <a:t>35 - 45 Minutes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5-question formative test</a:t>
            </a:r>
            <a:br/>
            <a:r>
              <a:t>• Teacher reviews worked examples</a:t>
            </a:r>
            <a:br/>
            <a:r>
              <a:t>• Assign homework/extension from Lesson Plan.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Ready for Demonstration: Staff Q&amp;A &amp; Live Sandbox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06B6D4"/>
                </a:solidFill>
              </a:defRPr>
            </a:pPr>
            <a:r>
              <a:t>🚀 Experience Edugates-ClipSAT Science Labs Live</a:t>
            </a:r>
          </a:p>
          <a:p>
            <a:pPr>
              <a:spcAft>
                <a:spcPts val="2000"/>
              </a:spcAft>
              <a:defRPr sz="1600" b="1">
                <a:solidFill>
                  <a:srgbClr val="38BDF8"/>
                </a:solidFill>
              </a:defRPr>
            </a:pPr>
            <a:r>
              <a:t>Live Web Application: https://mohammedamy.github.io/EdugatesScLab/</a:t>
            </a:r>
          </a:p>
          <a:p>
            <a:pPr>
              <a:spcAft>
                <a:spcPts val="2400"/>
              </a:spcAft>
              <a:defRPr sz="1300">
                <a:solidFill>
                  <a:srgbClr val="F8FAFC"/>
                </a:solidFill>
              </a:defRPr>
            </a:pPr>
            <a:r>
              <a:t>Key Interactive Demo Milestones to Try with Staff Today:</a:t>
            </a:r>
            <a:br/>
            <a:r>
              <a:t>1. Open the Subjects Dropdown Menu in the header bar (Access Chemistry, Biology, Physics, Labs, Quiz, Cards)</a:t>
            </a:r>
            <a:br/>
            <a:r>
              <a:t>2. Launch Virtual Labs (Acid-Base Titration stopcock or Optical Microscope Turret)</a:t>
            </a:r>
            <a:br/>
            <a:r>
              <a:t>3. Click 'Teacher Lesson Plan' on any lesson to preview and print the 2-Page A4 PDF</a:t>
            </a:r>
            <a:br/>
            <a:r>
              <a:t>4. Open the Quiz &amp; Exams Generator to preview instant printable Bubble Sheets</a:t>
            </a:r>
            <a:br/>
            <a:r>
              <a:t>5. Test the MAXHUB Turbo button and Day/Night mode toggles on the smartboard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Thank you! Open for Questions &amp; Hands-On Faculty Exploration.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